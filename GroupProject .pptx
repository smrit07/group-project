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AF49A68-C98B-4B9B-A8D5-D7769AA1D62D}">
  <a:tblStyle styleId="{FAF49A68-C98B-4B9B-A8D5-D7769AA1D62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" name="Google Shape;3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" name="Google Shape;4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" name="Google Shape;5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" name="Google Shape;6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" name="Google Shape;8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" name="Google Shape;9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" name="Google Shape;11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" name="Google Shape;12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" name="Google Shape;14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8" name="Google Shape;15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8" name="Google Shape;16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0" name="Google Shape;180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" name="Google Shape;187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4" name="Google Shape;194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5" name="Google Shape;205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7" name="Google Shape;217;p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9" name="Google Shape;229;p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6" name="Google Shape;236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2" name="Google Shape;252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16.png"/><Relationship Id="rId6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3.png"/><Relationship Id="rId6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jpg"/><Relationship Id="rId4" Type="http://schemas.openxmlformats.org/officeDocument/2006/relationships/image" Target="../media/image18.jpg"/><Relationship Id="rId5" Type="http://schemas.openxmlformats.org/officeDocument/2006/relationships/image" Target="../media/image17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5" Type="http://schemas.openxmlformats.org/officeDocument/2006/relationships/image" Target="../media/image2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/>
        </p:nvSpPr>
        <p:spPr>
          <a:xfrm>
            <a:off x="548650" y="1097275"/>
            <a:ext cx="5684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Smart Cafeteria &amp; Resource Queue Optimizer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 txBox="1"/>
          <p:nvPr/>
        </p:nvSpPr>
        <p:spPr>
          <a:xfrm>
            <a:off x="548650" y="2651750"/>
            <a:ext cx="5325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A Progressive Web App with live queue management and Discrete Event Simulation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" name="Google Shape;18;p3"/>
          <p:cNvCxnSpPr/>
          <p:nvPr/>
        </p:nvCxnSpPr>
        <p:spPr>
          <a:xfrm flipH="1" rot="10800000">
            <a:off x="548640" y="3734340"/>
            <a:ext cx="4825500" cy="14700"/>
          </a:xfrm>
          <a:prstGeom prst="straightConnector1">
            <a:avLst/>
          </a:prstGeom>
          <a:noFill/>
          <a:ln cap="flat" cmpd="sng" w="9525">
            <a:solidFill>
              <a:srgbClr val="D6D3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/>
        </p:nvSpPr>
        <p:spPr>
          <a:xfrm>
            <a:off x="548645" y="3886200"/>
            <a:ext cx="3827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Group The OG  ·  CSY2088 Group Project 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 txBox="1"/>
          <p:nvPr/>
        </p:nvSpPr>
        <p:spPr>
          <a:xfrm>
            <a:off x="548649" y="4160525"/>
            <a:ext cx="40098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Smrit Chaulagain (Leader), Subham Khadka, Abish Aryal</a:t>
            </a:r>
            <a:endParaRPr b="0" i="0" sz="1200" u="none" cap="none" strike="noStrike">
              <a:solidFill>
                <a:srgbClr val="6B6B6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Arpan Somnath Adhikari, Dhirendra Singh Khadka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 txBox="1"/>
          <p:nvPr/>
        </p:nvSpPr>
        <p:spPr>
          <a:xfrm>
            <a:off x="548640" y="132588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 txBox="1"/>
          <p:nvPr/>
        </p:nvSpPr>
        <p:spPr>
          <a:xfrm>
            <a:off x="548650" y="1737350"/>
            <a:ext cx="39318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Large student demand within a limited timeframe, fixed serving capacity, and no data-driven queue system. Students wait unnecessarily, and staff and management face unpredictable rushes without the information to allocate resources.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 txBox="1"/>
          <p:nvPr/>
        </p:nvSpPr>
        <p:spPr>
          <a:xfrm>
            <a:off x="4937760" y="13258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What it looks like at NAMI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 txBox="1"/>
          <p:nvPr/>
        </p:nvSpPr>
        <p:spPr>
          <a:xfrm>
            <a:off x="4937750" y="1737352"/>
            <a:ext cx="3657600" cy="20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Hundreds of students a day, most of them in the 9–10 AM break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B2B2B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15–20 minutes of waiting to be served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B2B2B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No record of past queues, so counters run on guesswork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B2B2B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Staff shout across the counter when food is ready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What we aim to achieve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 txBox="1"/>
          <p:nvPr/>
        </p:nvSpPr>
        <p:spPr>
          <a:xfrm>
            <a:off x="548640" y="1280160"/>
            <a:ext cx="8046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Design and build a PWA that combines Discrete Event Simulation with live queues and order management, to reduce student wait times at the NAMI cafeteria and give managers evidence instead of guesswork.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 txBox="1"/>
          <p:nvPr/>
        </p:nvSpPr>
        <p:spPr>
          <a:xfrm>
            <a:off x="548640" y="2286000"/>
            <a:ext cx="804672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500"/>
              <a:buFont typeface="Calibri"/>
              <a:buAutoNum type="arabicPeriod"/>
            </a:pPr>
            <a:r>
              <a:rPr b="0" i="0" lang="en-US" sz="15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Study peak-hour queue problems through interviews and observation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B2B2B"/>
              </a:buClr>
              <a:buSzPts val="1500"/>
              <a:buFont typeface="Calibri"/>
              <a:buAutoNum type="arabicPeriod"/>
            </a:pPr>
            <a:r>
              <a:rPr b="0" i="0" lang="en-US" sz="15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Build a DES model of arrivals, service times and counters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B2B2B"/>
              </a:buClr>
              <a:buSzPts val="1500"/>
              <a:buFont typeface="Calibri"/>
              <a:buAutoNum type="arabicPeriod"/>
            </a:pPr>
            <a:r>
              <a:rPr b="0" i="0" lang="en-US" sz="15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Live queue length and estimated wait times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B2B2B"/>
              </a:buClr>
              <a:buSzPts val="1500"/>
              <a:buFont typeface="Calibri"/>
              <a:buAutoNum type="arabicPeriod"/>
            </a:pPr>
            <a:r>
              <a:rPr b="0" i="0" lang="en-US" sz="15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Prediction system comparing the model with the live cafeteria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B2B2B"/>
              </a:buClr>
              <a:buSzPts val="1500"/>
              <a:buFont typeface="Calibri"/>
              <a:buAutoNum type="arabicPeriod"/>
            </a:pPr>
            <a:r>
              <a:rPr b="0" i="0" lang="en-US" sz="15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Pre-ordering: browse, order, track and get notified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B2B2B"/>
              </a:buClr>
              <a:buSzPts val="1500"/>
              <a:buFont typeface="Calibri"/>
              <a:buAutoNum type="arabicPeriod"/>
            </a:pPr>
            <a:r>
              <a:rPr b="0" i="0" lang="en-US" sz="15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Management dashboard with roles, reports and simulation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B2B2B"/>
              </a:buClr>
              <a:buSzPts val="1500"/>
              <a:buFont typeface="Calibri"/>
              <a:buAutoNum type="arabicPeriod"/>
            </a:pPr>
            <a:r>
              <a:rPr b="0" i="0" lang="en-US" sz="15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Test and evaluate with real users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What we will build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" name="Google Shape;45;p6"/>
          <p:cNvCxnSpPr/>
          <p:nvPr/>
        </p:nvCxnSpPr>
        <p:spPr>
          <a:xfrm>
            <a:off x="548640" y="1234440"/>
            <a:ext cx="8046720" cy="0"/>
          </a:xfrm>
          <a:prstGeom prst="straightConnector1">
            <a:avLst/>
          </a:prstGeom>
          <a:noFill/>
          <a:ln cap="flat" cmpd="sng" w="9525">
            <a:solidFill>
              <a:srgbClr val="D6D3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6"/>
          <p:cNvSpPr txBox="1"/>
          <p:nvPr/>
        </p:nvSpPr>
        <p:spPr>
          <a:xfrm>
            <a:off x="548640" y="137160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Students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6"/>
          <p:cNvSpPr txBox="1"/>
          <p:nvPr/>
        </p:nvSpPr>
        <p:spPr>
          <a:xfrm>
            <a:off x="2468880" y="1371600"/>
            <a:ext cx="6126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See the live queue and estimated wait, browse the menu, pre-order, track the order and get notified when it is ready.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" name="Google Shape;48;p6"/>
          <p:cNvCxnSpPr/>
          <p:nvPr/>
        </p:nvCxnSpPr>
        <p:spPr>
          <a:xfrm>
            <a:off x="548640" y="2103120"/>
            <a:ext cx="8046720" cy="0"/>
          </a:xfrm>
          <a:prstGeom prst="straightConnector1">
            <a:avLst/>
          </a:prstGeom>
          <a:noFill/>
          <a:ln cap="flat" cmpd="sng" w="9525">
            <a:solidFill>
              <a:srgbClr val="D6D3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" name="Google Shape;49;p6"/>
          <p:cNvSpPr txBox="1"/>
          <p:nvPr/>
        </p:nvSpPr>
        <p:spPr>
          <a:xfrm>
            <a:off x="548640" y="224028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Cafeteria staff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6"/>
          <p:cNvSpPr txBox="1"/>
          <p:nvPr/>
        </p:nvSpPr>
        <p:spPr>
          <a:xfrm>
            <a:off x="2468880" y="2240280"/>
            <a:ext cx="6126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An order board for pre-orders and walk-ins, order status updates, and open/close counters.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" name="Google Shape;51;p6"/>
          <p:cNvCxnSpPr/>
          <p:nvPr/>
        </p:nvCxnSpPr>
        <p:spPr>
          <a:xfrm>
            <a:off x="548640" y="2971800"/>
            <a:ext cx="8046720" cy="0"/>
          </a:xfrm>
          <a:prstGeom prst="straightConnector1">
            <a:avLst/>
          </a:prstGeom>
          <a:noFill/>
          <a:ln cap="flat" cmpd="sng" w="9525">
            <a:solidFill>
              <a:srgbClr val="D6D3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" name="Google Shape;52;p6"/>
          <p:cNvSpPr txBox="1"/>
          <p:nvPr/>
        </p:nvSpPr>
        <p:spPr>
          <a:xfrm>
            <a:off x="548646" y="3108950"/>
            <a:ext cx="975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Managers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6"/>
          <p:cNvSpPr txBox="1"/>
          <p:nvPr/>
        </p:nvSpPr>
        <p:spPr>
          <a:xfrm>
            <a:off x="2468880" y="3108960"/>
            <a:ext cx="6126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A dashboard with reports, and a simulation to test staffing and counter changes before making them for real.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" name="Google Shape;54;p6"/>
          <p:cNvCxnSpPr/>
          <p:nvPr/>
        </p:nvCxnSpPr>
        <p:spPr>
          <a:xfrm>
            <a:off x="548640" y="3886200"/>
            <a:ext cx="8046720" cy="0"/>
          </a:xfrm>
          <a:prstGeom prst="straightConnector1">
            <a:avLst/>
          </a:prstGeom>
          <a:noFill/>
          <a:ln cap="flat" cmpd="sng" w="9525">
            <a:solidFill>
              <a:srgbClr val="D6D3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" name="Google Shape;55;p6"/>
          <p:cNvSpPr txBox="1"/>
          <p:nvPr/>
        </p:nvSpPr>
        <p:spPr>
          <a:xfrm>
            <a:off x="548640" y="402336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All of it in one Progressive Web App, a website that behaves like an app, so there is nothing to download from an app store.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What already exists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2" name="Google Shape;62;p7"/>
          <p:cNvGraphicFramePr/>
          <p:nvPr/>
        </p:nvGraphicFramePr>
        <p:xfrm>
          <a:off x="548640" y="1280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{FAF49A68-C98B-4B9B-A8D5-D7769AA1D62D}</a:tableStyleId>
              </a:tblPr>
              <a:tblGrid>
                <a:gridCol w="2560325"/>
                <a:gridCol w="1188725"/>
                <a:gridCol w="1371600"/>
                <a:gridCol w="1463050"/>
                <a:gridCol w="146305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6B6B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6B6B6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SYSTEM TYPE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3C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6B6B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6B6B6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LIVE QUEUE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3C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6B6B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6B6B6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PRE-ORDERING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3C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6B6B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6B6B6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WHAT-IF SIMULATION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3C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6B6B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6B6B6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USED DAILY BY MANAGERS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3C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University ordering apps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3C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3C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3C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3C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3C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3C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3C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3C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3C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3C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Commercial queue systems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3C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3C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3C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3C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3C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3C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3C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3C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3C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3C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Academic DES studies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3C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3C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3C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3C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3C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3C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3C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3C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3C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3C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Smart Cafeteria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3C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3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3C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3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3C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3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3C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3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3C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3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FE5"/>
                    </a:solidFill>
                  </a:tcPr>
                </a:tc>
              </a:tr>
            </a:tbl>
          </a:graphicData>
        </a:graphic>
      </p:graphicFrame>
      <p:sp>
        <p:nvSpPr>
          <p:cNvPr id="63" name="Google Shape;63;p7"/>
          <p:cNvSpPr txBox="1"/>
          <p:nvPr/>
        </p:nvSpPr>
        <p:spPr>
          <a:xfrm>
            <a:off x="548640" y="3840480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Nothing on the market covers all four. We combine the practical side of PWA pre-ordering with a live simulation layer, in one application on the same data.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Methodology: Agile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8"/>
          <p:cNvSpPr txBox="1"/>
          <p:nvPr/>
        </p:nvSpPr>
        <p:spPr>
          <a:xfrm>
            <a:off x="548640" y="118872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What it is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8"/>
          <p:cNvSpPr txBox="1"/>
          <p:nvPr/>
        </p:nvSpPr>
        <p:spPr>
          <a:xfrm>
            <a:off x="548640" y="1508760"/>
            <a:ext cx="39319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Building in short cycles. Each cycle delivers a working part, it gets tested, and what we learn shapes the next cycle.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8"/>
          <p:cNvSpPr txBox="1"/>
          <p:nvPr/>
        </p:nvSpPr>
        <p:spPr>
          <a:xfrm>
            <a:off x="548640" y="2304288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How we iterated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8"/>
          <p:cNvSpPr txBox="1"/>
          <p:nvPr/>
        </p:nvSpPr>
        <p:spPr>
          <a:xfrm>
            <a:off x="548640" y="2615184"/>
            <a:ext cx="39319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Take the next part from the ranked requirements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Build it as a working piece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Test it before starting the next sprint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8"/>
          <p:cNvSpPr txBox="1"/>
          <p:nvPr/>
        </p:nvSpPr>
        <p:spPr>
          <a:xfrm>
            <a:off x="548640" y="3621024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What we did: five sprints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8"/>
          <p:cNvSpPr/>
          <p:nvPr/>
        </p:nvSpPr>
        <p:spPr>
          <a:xfrm>
            <a:off x="548640" y="4069080"/>
            <a:ext cx="1521562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SPRINT 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Foundation and observation data</a:t>
            </a:r>
            <a:endParaRPr/>
          </a:p>
        </p:txBody>
      </p:sp>
      <p:sp>
        <p:nvSpPr>
          <p:cNvPr id="76" name="Google Shape;76;p8"/>
          <p:cNvSpPr/>
          <p:nvPr/>
        </p:nvSpPr>
        <p:spPr>
          <a:xfrm>
            <a:off x="2179930" y="4069080"/>
            <a:ext cx="1521562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SPRINT 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Live queue and DES connection</a:t>
            </a:r>
            <a:endParaRPr/>
          </a:p>
        </p:txBody>
      </p:sp>
      <p:sp>
        <p:nvSpPr>
          <p:cNvPr id="77" name="Google Shape;77;p8"/>
          <p:cNvSpPr/>
          <p:nvPr/>
        </p:nvSpPr>
        <p:spPr>
          <a:xfrm>
            <a:off x="3811219" y="4069080"/>
            <a:ext cx="1521562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SPRINT 3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Pre-order flow, staff order board, counter control</a:t>
            </a:r>
            <a:endParaRPr/>
          </a:p>
        </p:txBody>
      </p:sp>
      <p:sp>
        <p:nvSpPr>
          <p:cNvPr id="78" name="Google Shape;78;p8"/>
          <p:cNvSpPr/>
          <p:nvPr/>
        </p:nvSpPr>
        <p:spPr>
          <a:xfrm>
            <a:off x="5442509" y="4069080"/>
            <a:ext cx="1521562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SPRINT 4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Management dashboard and what-if simulation</a:t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>
            <a:off x="7073798" y="4069080"/>
            <a:ext cx="1521562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SPRINT 5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Authentication, security, PWA service worker, deployment</a:t>
            </a:r>
            <a:endParaRPr/>
          </a:p>
        </p:txBody>
      </p:sp>
      <p:cxnSp>
        <p:nvCxnSpPr>
          <p:cNvPr id="80" name="Google Shape;80;p8"/>
          <p:cNvCxnSpPr/>
          <p:nvPr/>
        </p:nvCxnSpPr>
        <p:spPr>
          <a:xfrm>
            <a:off x="548640" y="3968496"/>
            <a:ext cx="8046720" cy="0"/>
          </a:xfrm>
          <a:prstGeom prst="straightConnector1">
            <a:avLst/>
          </a:prstGeom>
          <a:noFill/>
          <a:ln cap="flat" cmpd="sng" w="9525">
            <a:solidFill>
              <a:srgbClr val="D6D3C8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81" name="Google Shape;81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2960" y="1158240"/>
            <a:ext cx="4088248" cy="2310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9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Requirement analysis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9"/>
          <p:cNvSpPr txBox="1"/>
          <p:nvPr/>
        </p:nvSpPr>
        <p:spPr>
          <a:xfrm>
            <a:off x="548640" y="128016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How we did it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9"/>
          <p:cNvSpPr txBox="1"/>
          <p:nvPr/>
        </p:nvSpPr>
        <p:spPr>
          <a:xfrm>
            <a:off x="548640" y="1691640"/>
            <a:ext cx="384048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Interviewed students, cafeteria staff, the manager and college administration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B2B2B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Every group described the same rush-hour problem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B2B2B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Sorted needs into functional and non-functional requirements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B2B2B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Ranked them Must / Should / Could (MoSCoW): 18 functional, 10 non-functional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9"/>
          <p:cNvSpPr txBox="1"/>
          <p:nvPr/>
        </p:nvSpPr>
        <p:spPr>
          <a:xfrm>
            <a:off x="4937760" y="12801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What we found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9"/>
          <p:cNvSpPr txBox="1"/>
          <p:nvPr/>
        </p:nvSpPr>
        <p:spPr>
          <a:xfrm>
            <a:off x="4937760" y="1691640"/>
            <a:ext cx="365760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One system for all groups was the right call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B2B2B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Students won't install an app, so a PWA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B2B2B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Pre-ordering alone won't shorten the queue, so staff need an order board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B2B2B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Manager and admin want to test changes, so simulation is central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B2B2B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Admin: no individual student orders in reports, so privacy is built into the database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Literature review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8" name="Google Shape;98;p10"/>
          <p:cNvCxnSpPr/>
          <p:nvPr/>
        </p:nvCxnSpPr>
        <p:spPr>
          <a:xfrm>
            <a:off x="548640" y="1280160"/>
            <a:ext cx="8046720" cy="0"/>
          </a:xfrm>
          <a:prstGeom prst="straightConnector1">
            <a:avLst/>
          </a:prstGeom>
          <a:noFill/>
          <a:ln cap="flat" cmpd="sng" w="9525">
            <a:solidFill>
              <a:srgbClr val="D6D3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" name="Google Shape;99;p10"/>
          <p:cNvSpPr txBox="1"/>
          <p:nvPr/>
        </p:nvSpPr>
        <p:spPr>
          <a:xfrm>
            <a:off x="548640" y="14173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Simulation studies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0"/>
          <p:cNvSpPr txBox="1"/>
          <p:nvPr/>
        </p:nvSpPr>
        <p:spPr>
          <a:xfrm>
            <a:off x="2560320" y="1417320"/>
            <a:ext cx="6035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DES has been used to cut campus dining queues by reallocating counters and staff, to size dining resources under changing demand, and to validate dynamic staffing with SimPy.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1" name="Google Shape;101;p10"/>
          <p:cNvCxnSpPr/>
          <p:nvPr/>
        </p:nvCxnSpPr>
        <p:spPr>
          <a:xfrm>
            <a:off x="548640" y="2377440"/>
            <a:ext cx="8046720" cy="0"/>
          </a:xfrm>
          <a:prstGeom prst="straightConnector1">
            <a:avLst/>
          </a:prstGeom>
          <a:noFill/>
          <a:ln cap="flat" cmpd="sng" w="9525">
            <a:solidFill>
              <a:srgbClr val="D6D3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" name="Google Shape;102;p10"/>
          <p:cNvSpPr txBox="1"/>
          <p:nvPr/>
        </p:nvSpPr>
        <p:spPr>
          <a:xfrm>
            <a:off x="548640" y="251460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Digital pre-ordering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0"/>
          <p:cNvSpPr txBox="1"/>
          <p:nvPr/>
        </p:nvSpPr>
        <p:spPr>
          <a:xfrm>
            <a:off x="2560320" y="2514600"/>
            <a:ext cx="6035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At UC Berkeley, lunch waits fell from about 45 to about 20 minutes after mobile ordering. Tianjin University of Science and Technology and MealPe report similar effects.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4" name="Google Shape;104;p10"/>
          <p:cNvCxnSpPr/>
          <p:nvPr/>
        </p:nvCxnSpPr>
        <p:spPr>
          <a:xfrm>
            <a:off x="548640" y="3474720"/>
            <a:ext cx="8046720" cy="0"/>
          </a:xfrm>
          <a:prstGeom prst="straightConnector1">
            <a:avLst/>
          </a:prstGeom>
          <a:noFill/>
          <a:ln cap="flat" cmpd="sng" w="9525">
            <a:solidFill>
              <a:srgbClr val="D6D3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5" name="Google Shape;105;p10"/>
          <p:cNvSpPr txBox="1"/>
          <p:nvPr/>
        </p:nvSpPr>
        <p:spPr>
          <a:xfrm>
            <a:off x="548640" y="361188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The gap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0"/>
          <p:cNvSpPr txBox="1"/>
          <p:nvPr/>
        </p:nvSpPr>
        <p:spPr>
          <a:xfrm>
            <a:off x="2560320" y="3611880"/>
            <a:ext cx="6035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Simulation tools rarely reach managers, and pre-order apps don't answer "what if we open one more counter?". This project links both.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1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Technology review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1"/>
          <p:cNvSpPr txBox="1"/>
          <p:nvPr/>
        </p:nvSpPr>
        <p:spPr>
          <a:xfrm>
            <a:off x="548640" y="123444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Why DES and SimPy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1"/>
          <p:cNvSpPr txBox="1"/>
          <p:nvPr/>
        </p:nvSpPr>
        <p:spPr>
          <a:xfrm>
            <a:off x="548640" y="1600200"/>
            <a:ext cx="38404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DES models the cafeteria as events: a student arrives, joins the queue, service starts, service ends, they leave. SimPy is free, well documented and light enough for a laptop; AnyLogic and Arena carry licence costs.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1"/>
          <p:cNvSpPr txBox="1"/>
          <p:nvPr/>
        </p:nvSpPr>
        <p:spPr>
          <a:xfrm>
            <a:off x="548640" y="310896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Why a PWA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1"/>
          <p:cNvSpPr txBox="1"/>
          <p:nvPr/>
        </p:nvSpPr>
        <p:spPr>
          <a:xfrm>
            <a:off x="548640" y="3474720"/>
            <a:ext cx="38404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Students said they would not install an app. A PWA needs no download or account, uses almost no storage, and one codebase serves Android, iPhone and desktop.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1"/>
          <p:cNvSpPr txBox="1"/>
          <p:nvPr/>
        </p:nvSpPr>
        <p:spPr>
          <a:xfrm>
            <a:off x="4846320" y="123444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The stack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1"/>
          <p:cNvSpPr txBox="1"/>
          <p:nvPr/>
        </p:nvSpPr>
        <p:spPr>
          <a:xfrm>
            <a:off x="4846320" y="1600200"/>
            <a:ext cx="374904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Svelte + Vite: fast, no runtime, smooth on low-end devices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Express: simple REST API, same language as the frontend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Socket.io: pushes queue and order changes instantly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MySQL: relational, easy to run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JWT + bcrypt: stateless login, standard password hashing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Python + SimPy + Flask: SimPy runs the model, Flask serves it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2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System architecture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work/un/ppt/media/image-26-1.png" id="125" name="Google Shape;12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213" y="1223576"/>
            <a:ext cx="2320879" cy="2412493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2"/>
          <p:cNvSpPr txBox="1"/>
          <p:nvPr/>
        </p:nvSpPr>
        <p:spPr>
          <a:xfrm>
            <a:off x="442961" y="3783773"/>
            <a:ext cx="24195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92"/>
              <a:buFont typeface="Calibri"/>
              <a:buNone/>
            </a:pPr>
            <a:r>
              <a:rPr b="1" i="0" lang="en-US" sz="1292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Presentation port 80</a:t>
            </a:r>
            <a:endParaRPr b="0" i="0" sz="129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2"/>
          <p:cNvSpPr txBox="1"/>
          <p:nvPr/>
        </p:nvSpPr>
        <p:spPr>
          <a:xfrm>
            <a:off x="150213" y="4079180"/>
            <a:ext cx="24195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185"/>
              <a:buFont typeface="Calibri"/>
              <a:buNone/>
            </a:pPr>
            <a:r>
              <a:rPr b="0" i="0" lang="en-US" sz="1185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Svelte PWA, a screen per role</a:t>
            </a:r>
            <a:endParaRPr b="0" i="0" sz="11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work/un/ppt/media/image-26-2.png" id="128" name="Google Shape;128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66503" y="1223576"/>
            <a:ext cx="1453429" cy="2412494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2"/>
          <p:cNvSpPr txBox="1"/>
          <p:nvPr/>
        </p:nvSpPr>
        <p:spPr>
          <a:xfrm>
            <a:off x="2766503" y="3783773"/>
            <a:ext cx="15519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92"/>
              <a:buFont typeface="Calibri"/>
              <a:buNone/>
            </a:pPr>
            <a:r>
              <a:rPr b="1" i="0" lang="en-US" sz="1292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Application</a:t>
            </a:r>
            <a:r>
              <a:rPr b="1" lang="en-US" sz="1292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1292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port 4000</a:t>
            </a:r>
            <a:endParaRPr b="0" i="0" sz="129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2"/>
          <p:cNvSpPr txBox="1"/>
          <p:nvPr/>
        </p:nvSpPr>
        <p:spPr>
          <a:xfrm>
            <a:off x="2766503" y="4079180"/>
            <a:ext cx="15519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185"/>
              <a:buFont typeface="Calibri"/>
              <a:buNone/>
            </a:pPr>
            <a:r>
              <a:rPr b="0" i="0" lang="en-US" sz="1185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Login, order rules, live updates</a:t>
            </a:r>
            <a:endParaRPr b="0" i="0" sz="11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work/un/ppt/media/image-27-1.png" id="131" name="Google Shape;131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15340" y="1223576"/>
            <a:ext cx="2186513" cy="2412493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2"/>
          <p:cNvSpPr txBox="1"/>
          <p:nvPr/>
        </p:nvSpPr>
        <p:spPr>
          <a:xfrm>
            <a:off x="4796404" y="3783773"/>
            <a:ext cx="22851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92"/>
              <a:buFont typeface="Calibri"/>
              <a:buNone/>
            </a:pPr>
            <a:r>
              <a:rPr b="1" i="0" lang="en-US" sz="1292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Simulation port 5001</a:t>
            </a:r>
            <a:endParaRPr b="0" i="0" sz="129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2"/>
          <p:cNvSpPr txBox="1"/>
          <p:nvPr/>
        </p:nvSpPr>
        <p:spPr>
          <a:xfrm>
            <a:off x="4515340" y="4079180"/>
            <a:ext cx="22851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185"/>
              <a:buFont typeface="Calibri"/>
              <a:buNone/>
            </a:pPr>
            <a:r>
              <a:rPr b="0" i="0" lang="en-US" sz="1185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SimPy estimates and what-ifs</a:t>
            </a:r>
            <a:endParaRPr b="0" i="0" sz="11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work/un/ppt/media/image-27-2.png" id="134" name="Google Shape;134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97263" y="1223576"/>
            <a:ext cx="1802437" cy="2412494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2"/>
          <p:cNvSpPr txBox="1"/>
          <p:nvPr/>
        </p:nvSpPr>
        <p:spPr>
          <a:xfrm>
            <a:off x="7243193" y="3783773"/>
            <a:ext cx="19008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92"/>
              <a:buFont typeface="Calibri"/>
              <a:buNone/>
            </a:pPr>
            <a:r>
              <a:rPr b="1" i="0" lang="en-US" sz="1292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Data port 3306</a:t>
            </a:r>
            <a:endParaRPr b="0" i="0" sz="129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2"/>
          <p:cNvSpPr txBox="1"/>
          <p:nvPr/>
        </p:nvSpPr>
        <p:spPr>
          <a:xfrm>
            <a:off x="6997263" y="4079180"/>
            <a:ext cx="19008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185"/>
              <a:buFont typeface="Calibri"/>
              <a:buNone/>
            </a:pPr>
            <a:r>
              <a:rPr b="0" i="0" lang="en-US" sz="1185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MySQL and two privacy views</a:t>
            </a:r>
            <a:endParaRPr b="0" i="0" sz="11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Use cases: four actors, one system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work/un/ppt/media/image-24-1.png" id="143" name="Google Shape;14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234440"/>
            <a:ext cx="1720052" cy="210312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3"/>
          <p:cNvSpPr txBox="1"/>
          <p:nvPr/>
        </p:nvSpPr>
        <p:spPr>
          <a:xfrm>
            <a:off x="548640" y="3474720"/>
            <a:ext cx="17200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Student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3"/>
          <p:cNvSpPr txBox="1"/>
          <p:nvPr/>
        </p:nvSpPr>
        <p:spPr>
          <a:xfrm>
            <a:off x="548640" y="3749040"/>
            <a:ext cx="172005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View queue, get wait time, pre-order, track, get alerts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work/un/ppt/media/image-24-2.png" id="146" name="Google Shape;14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51572" y="1234440"/>
            <a:ext cx="2112344" cy="210312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3"/>
          <p:cNvSpPr txBox="1"/>
          <p:nvPr/>
        </p:nvSpPr>
        <p:spPr>
          <a:xfrm>
            <a:off x="2451572" y="3474720"/>
            <a:ext cx="21123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Staff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3"/>
          <p:cNvSpPr txBox="1"/>
          <p:nvPr/>
        </p:nvSpPr>
        <p:spPr>
          <a:xfrm>
            <a:off x="2451572" y="3749040"/>
            <a:ext cx="2112344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Order board, update status, open or close counters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work/un/ppt/media/image-24-3.png" id="149" name="Google Shape;149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46796" y="1234440"/>
            <a:ext cx="1720052" cy="210312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3"/>
          <p:cNvSpPr txBox="1"/>
          <p:nvPr/>
        </p:nvSpPr>
        <p:spPr>
          <a:xfrm>
            <a:off x="4746796" y="3474720"/>
            <a:ext cx="17200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Manager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3"/>
          <p:cNvSpPr txBox="1"/>
          <p:nvPr/>
        </p:nvSpPr>
        <p:spPr>
          <a:xfrm>
            <a:off x="4746796" y="3749040"/>
            <a:ext cx="172005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Live dashboard, simulations, analytics, reports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work/un/ppt/media/image-24-4.png" id="152" name="Google Shape;152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49728" y="1234440"/>
            <a:ext cx="2112344" cy="210312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3"/>
          <p:cNvSpPr txBox="1"/>
          <p:nvPr/>
        </p:nvSpPr>
        <p:spPr>
          <a:xfrm>
            <a:off x="6649728" y="3474720"/>
            <a:ext cx="21123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System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3"/>
          <p:cNvSpPr txBox="1"/>
          <p:nvPr/>
        </p:nvSpPr>
        <p:spPr>
          <a:xfrm>
            <a:off x="6649728" y="3749040"/>
            <a:ext cx="2112344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Predictions, notifications, self-calibration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4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Database design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4"/>
          <p:cNvSpPr txBox="1"/>
          <p:nvPr/>
        </p:nvSpPr>
        <p:spPr>
          <a:xfrm>
            <a:off x="548640" y="1280160"/>
            <a:ext cx="3931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Eight tables and two privacy views, in MySQL with foreign keys.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4"/>
          <p:cNvSpPr txBox="1"/>
          <p:nvPr/>
        </p:nvSpPr>
        <p:spPr>
          <a:xfrm>
            <a:off x="548650" y="2240276"/>
            <a:ext cx="3931800" cy="21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Users, menu items, counters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Orders and their items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Queue snapshots, measured service times, saved what-if runs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Reports use summarised views only: never student IDs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work/img/image1.jpg" id="163" name="Google Shape;16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0640" y="365760"/>
            <a:ext cx="3145536" cy="425196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4"/>
          <p:cNvSpPr txBox="1"/>
          <p:nvPr/>
        </p:nvSpPr>
        <p:spPr>
          <a:xfrm>
            <a:off x="5120640" y="4663440"/>
            <a:ext cx="3566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Entity relationship diagram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5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Low-fidelity wireframes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work/img/image2.jpg" id="171" name="Google Shape;17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188720"/>
            <a:ext cx="1841326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tmp/work/img/image3.jpg" id="172" name="Google Shape;17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60320" y="1188720"/>
            <a:ext cx="1841326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tmp/work/img/image4.jpg" id="173" name="Google Shape;17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2000" y="1188720"/>
            <a:ext cx="4086808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5"/>
          <p:cNvSpPr txBox="1"/>
          <p:nvPr/>
        </p:nvSpPr>
        <p:spPr>
          <a:xfrm>
            <a:off x="1097050" y="4069075"/>
            <a:ext cx="59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Student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5"/>
          <p:cNvSpPr txBox="1"/>
          <p:nvPr/>
        </p:nvSpPr>
        <p:spPr>
          <a:xfrm>
            <a:off x="3233882" y="4114550"/>
            <a:ext cx="377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Staff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5"/>
          <p:cNvSpPr txBox="1"/>
          <p:nvPr/>
        </p:nvSpPr>
        <p:spPr>
          <a:xfrm>
            <a:off x="5701000" y="4069080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Management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6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Product screens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3" name="Google Shape;18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15975"/>
            <a:ext cx="9311975" cy="3641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7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Simulation results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7"/>
          <p:cNvSpPr txBox="1"/>
          <p:nvPr/>
        </p:nvSpPr>
        <p:spPr>
          <a:xfrm>
            <a:off x="548640" y="1280160"/>
            <a:ext cx="786384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Live estimate: a SimPy model seeded with the students in the queue right now, 8 short runs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B2B2B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No answer within 1.5 seconds: the app falls back to a simple estimate, labelled approximate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B2B2B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The model recalibrates every 10 minutes from measured service times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B2B2B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What-if tests compare setups, such as 2 counters against 3, and return average wait, queue length and confidence intervals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B2B2B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In testing, a queue of 6 with 2 counters and 2.5 min service gave about 7.5 min, labelled as an estimate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8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Testing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8"/>
          <p:cNvSpPr txBox="1"/>
          <p:nvPr/>
        </p:nvSpPr>
        <p:spPr>
          <a:xfrm>
            <a:off x="548647" y="1058825"/>
            <a:ext cx="2725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12 of 12 unit tests passed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8"/>
          <p:cNvSpPr txBox="1"/>
          <p:nvPr/>
        </p:nvSpPr>
        <p:spPr>
          <a:xfrm>
            <a:off x="4609075" y="1005850"/>
            <a:ext cx="3888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10 of 10 integration tests passed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8"/>
          <p:cNvSpPr txBox="1"/>
          <p:nvPr/>
        </p:nvSpPr>
        <p:spPr>
          <a:xfrm>
            <a:off x="4609075" y="1371548"/>
            <a:ext cx="35247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Integration tests check full flows, such as a pre-order going from the student to the staff board and back as a ready notification.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descr="Table grouping the 12 unit tests and 10 integration tests by area; all passed." id="200" name="Google Shape;200;p18"/>
          <p:cNvGraphicFramePr/>
          <p:nvPr/>
        </p:nvGraphicFramePr>
        <p:xfrm>
          <a:off x="450765" y="2064060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{FAF49A68-C98B-4B9B-A8D5-D7769AA1D62D}</a:tableStyleId>
              </a:tblPr>
              <a:tblGrid>
                <a:gridCol w="1783075"/>
                <a:gridCol w="3154675"/>
                <a:gridCol w="1097275"/>
                <a:gridCol w="1051550"/>
                <a:gridCol w="960125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rgbClr val="6B6B6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AREA</a:t>
                      </a:r>
                      <a:endParaRPr/>
                    </a:p>
                  </a:txBody>
                  <a:tcPr marT="36575" marB="3657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rgbClr val="6B6B6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WE CHECKED</a:t>
                      </a:r>
                      <a:endParaRPr/>
                    </a:p>
                  </a:txBody>
                  <a:tcPr marT="36575" marB="3657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rgbClr val="6B6B6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UNIT</a:t>
                      </a:r>
                      <a:endParaRPr/>
                    </a:p>
                  </a:txBody>
                  <a:tcPr marT="36575" marB="3657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rgbClr val="6B6B6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INTEGRATION</a:t>
                      </a:r>
                      <a:endParaRPr/>
                    </a:p>
                  </a:txBody>
                  <a:tcPr marT="36575" marB="3657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rgbClr val="6B6B6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PASSED</a:t>
                      </a:r>
                      <a:endParaRPr/>
                    </a:p>
                  </a:txBody>
                  <a:tcPr marT="36575" marB="3657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Logins and role isolation</a:t>
                      </a:r>
                      <a:endParaRPr/>
                    </a:p>
                  </a:txBody>
                  <a:tcPr marT="36575" marB="3657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Logins for 4 roles, student refused on staff pages, bcrypt password hashing</a:t>
                      </a:r>
                      <a:endParaRPr/>
                    </a:p>
                  </a:txBody>
                  <a:tcPr marT="36575" marB="3657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UT-01, 02, 12</a:t>
                      </a:r>
                      <a:endParaRPr/>
                    </a:p>
                  </a:txBody>
                  <a:tcPr marT="36575" marB="3657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IT-03</a:t>
                      </a:r>
                      <a:endParaRPr/>
                    </a:p>
                  </a:txBody>
                  <a:tcPr marT="36575" marB="3657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 of 4</a:t>
                      </a:r>
                      <a:endParaRPr/>
                    </a:p>
                  </a:txBody>
                  <a:tcPr marT="36575" marB="3657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FE5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Queue behaviour</a:t>
                      </a:r>
                      <a:endParaRPr/>
                    </a:p>
                  </a:txBody>
                  <a:tcPr marT="36575" marB="3657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Queue length and wait estimate (queue of 6, 2 counters: 7.5 min), shown live without refresh</a:t>
                      </a:r>
                      <a:endParaRPr/>
                    </a:p>
                  </a:txBody>
                  <a:tcPr marT="36575" marB="3657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UT-03, 04</a:t>
                      </a:r>
                      <a:endParaRPr/>
                    </a:p>
                  </a:txBody>
                  <a:tcPr marT="36575" marB="3657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IT-02</a:t>
                      </a:r>
                      <a:endParaRPr/>
                    </a:p>
                  </a:txBody>
                  <a:tcPr marT="36575" marB="3657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 of 3</a:t>
                      </a:r>
                      <a:endParaRPr/>
                    </a:p>
                  </a:txBody>
                  <a:tcPr marT="36575" marB="3657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FE5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Ordering and status flow</a:t>
                      </a:r>
                      <a:endParaRPr/>
                    </a:p>
                  </a:txBody>
                  <a:tcPr marT="36575" marB="3657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Place order, status flow, illegal status change rejected, full pre-order journey, menu edits</a:t>
                      </a:r>
                      <a:endParaRPr/>
                    </a:p>
                  </a:txBody>
                  <a:tcPr marT="36575" marB="3657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UT-05, 06, 07</a:t>
                      </a:r>
                      <a:endParaRPr/>
                    </a:p>
                  </a:txBody>
                  <a:tcPr marT="36575" marB="3657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IT-01, 10</a:t>
                      </a:r>
                      <a:endParaRPr/>
                    </a:p>
                  </a:txBody>
                  <a:tcPr marT="36575" marB="3657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 of 5</a:t>
                      </a:r>
                      <a:endParaRPr/>
                    </a:p>
                  </a:txBody>
                  <a:tcPr marT="36575" marB="3657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FE5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Counter controls</a:t>
                      </a:r>
                      <a:endParaRPr/>
                    </a:p>
                  </a:txBody>
                  <a:tcPr marT="36575" marB="3657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Closing a counter updates every student and management screen live through Socket.io</a:t>
                      </a:r>
                      <a:endParaRPr/>
                    </a:p>
                  </a:txBody>
                  <a:tcPr marT="36575" marB="3657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UT-08</a:t>
                      </a:r>
                      <a:endParaRPr/>
                    </a:p>
                  </a:txBody>
                  <a:tcPr marT="36575" marB="3657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IT-04</a:t>
                      </a:r>
                      <a:endParaRPr/>
                    </a:p>
                  </a:txBody>
                  <a:tcPr marT="36575" marB="3657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 of 2</a:t>
                      </a:r>
                      <a:endParaRPr/>
                    </a:p>
                  </a:txBody>
                  <a:tcPr marT="36575" marB="3657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FE5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Simulation and fallback</a:t>
                      </a:r>
                      <a:endParaRPr/>
                    </a:p>
                  </a:txBody>
                  <a:tcPr marT="36575" marB="3657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 vs 3 counter what-if, fallback with approximate label, circuit breaker opens after 3 failures</a:t>
                      </a:r>
                      <a:endParaRPr/>
                    </a:p>
                  </a:txBody>
                  <a:tcPr marT="36575" marB="3657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UT-09, 11</a:t>
                      </a:r>
                      <a:endParaRPr/>
                    </a:p>
                  </a:txBody>
                  <a:tcPr marT="36575" marB="3657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IT-05, 06, 07</a:t>
                      </a:r>
                      <a:endParaRPr/>
                    </a:p>
                  </a:txBody>
                  <a:tcPr marT="36575" marB="3657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 of 5</a:t>
                      </a:r>
                      <a:endParaRPr/>
                    </a:p>
                  </a:txBody>
                  <a:tcPr marT="36575" marB="3657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FE5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Privacy and offline use</a:t>
                      </a:r>
                      <a:endParaRPr/>
                    </a:p>
                  </a:txBody>
                  <a:tcPr marT="36575" marB="3657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Reports hold summarised figures only, no student IDs; PWA opens offline with a clear message</a:t>
                      </a:r>
                      <a:endParaRPr/>
                    </a:p>
                  </a:txBody>
                  <a:tcPr marT="36575" marB="3657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UT-10</a:t>
                      </a:r>
                      <a:endParaRPr/>
                    </a:p>
                  </a:txBody>
                  <a:tcPr marT="36575" marB="3657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IT-08, 09</a:t>
                      </a:r>
                      <a:endParaRPr/>
                    </a:p>
                  </a:txBody>
                  <a:tcPr marT="36575" marB="3657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 of 3</a:t>
                      </a:r>
                      <a:endParaRPr/>
                    </a:p>
                  </a:txBody>
                  <a:tcPr marT="36575" marB="3657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FE5"/>
                    </a:solidFill>
                  </a:tcPr>
                </a:tc>
              </a:tr>
            </a:tbl>
          </a:graphicData>
        </a:graphic>
      </p:graphicFrame>
      <p:sp>
        <p:nvSpPr>
          <p:cNvPr id="201" name="Google Shape;201;p18"/>
          <p:cNvSpPr txBox="1"/>
          <p:nvPr/>
        </p:nvSpPr>
        <p:spPr>
          <a:xfrm>
            <a:off x="548650" y="1424525"/>
            <a:ext cx="255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Unit tests check single functions.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9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Test evidence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work/img/ev_ut07.png" id="208" name="Google Shape;20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280160"/>
            <a:ext cx="4023360" cy="2062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9"/>
          <p:cNvSpPr txBox="1"/>
          <p:nvPr/>
        </p:nvSpPr>
        <p:spPr>
          <a:xfrm>
            <a:off x="548640" y="3429000"/>
            <a:ext cx="4023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Unit test: a finished order can't go back to "preparing". The server rejects it (400).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work/img/ev_it07.png" id="210" name="Google Shape;21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75" y="3125251"/>
            <a:ext cx="3840475" cy="1274851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9"/>
          <p:cNvSpPr txBox="1"/>
          <p:nvPr/>
        </p:nvSpPr>
        <p:spPr>
          <a:xfrm>
            <a:off x="4754880" y="4434840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Circuit breaker: after 3 timeouts the circuit opens; attempt 4 is rejected in 2 ms.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2" name="Google Shape;21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2000" y="1280146"/>
            <a:ext cx="4355050" cy="1319925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9"/>
          <p:cNvSpPr txBox="1"/>
          <p:nvPr/>
        </p:nvSpPr>
        <p:spPr>
          <a:xfrm>
            <a:off x="4946880" y="2625915"/>
            <a:ext cx="3840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Privacy test: no student or individual order record is shown only.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0"/>
          <p:cNvSpPr txBox="1"/>
          <p:nvPr/>
        </p:nvSpPr>
        <p:spPr>
          <a:xfrm>
            <a:off x="548640" y="365760"/>
            <a:ext cx="8046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Test evidence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work/img/ev_it09.png" id="220" name="Google Shape;22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1330" y="1405835"/>
            <a:ext cx="3840481" cy="185183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0"/>
          <p:cNvSpPr txBox="1"/>
          <p:nvPr/>
        </p:nvSpPr>
        <p:spPr>
          <a:xfrm>
            <a:off x="481330" y="3326075"/>
            <a:ext cx="3840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Installed on the home screen and opened offline: a usable shell that says live data is unavailable.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work/img/ev_ut11.png" id="222" name="Google Shape;22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0452" y="3493650"/>
            <a:ext cx="3840448" cy="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0"/>
          <p:cNvSpPr txBox="1"/>
          <p:nvPr/>
        </p:nvSpPr>
        <p:spPr>
          <a:xfrm>
            <a:off x="4631519" y="4453830"/>
            <a:ext cx="3840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Simulation engine stopped: queue length still shows, wait marked approximate.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work/img/ev_it03.png" id="224" name="Google Shape;22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89400" y="1405823"/>
            <a:ext cx="3840475" cy="1280875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0"/>
          <p:cNvSpPr txBox="1"/>
          <p:nvPr/>
        </p:nvSpPr>
        <p:spPr>
          <a:xfrm>
            <a:off x="4754655" y="2884385"/>
            <a:ext cx="3840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Integration test: a student opening the staff board is blocked.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1"/>
          <p:cNvSpPr txBox="1"/>
          <p:nvPr/>
        </p:nvSpPr>
        <p:spPr>
          <a:xfrm>
            <a:off x="548640" y="365760"/>
            <a:ext cx="8046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Project Timeline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2" name="Google Shape;232;p21" title="Screenshot 2026-09-27 093351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1025" y="1005950"/>
            <a:ext cx="8231048" cy="395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2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Evaluation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2"/>
          <p:cNvSpPr txBox="1"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A limited trial with volunteer students and cafeteria staff: a set list of tasks first, then free use.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0" name="Google Shape;240;p22"/>
          <p:cNvCxnSpPr/>
          <p:nvPr/>
        </p:nvCxnSpPr>
        <p:spPr>
          <a:xfrm>
            <a:off x="548640" y="1600200"/>
            <a:ext cx="2468880" cy="0"/>
          </a:xfrm>
          <a:prstGeom prst="straightConnector1">
            <a:avLst/>
          </a:prstGeom>
          <a:noFill/>
          <a:ln cap="flat" cmpd="sng" w="9525">
            <a:solidFill>
              <a:srgbClr val="D6D3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1" name="Google Shape;241;p22"/>
          <p:cNvSpPr txBox="1"/>
          <p:nvPr/>
        </p:nvSpPr>
        <p:spPr>
          <a:xfrm>
            <a:off x="548640" y="1719072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Users liked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2"/>
          <p:cNvSpPr txBox="1"/>
          <p:nvPr/>
        </p:nvSpPr>
        <p:spPr>
          <a:xfrm>
            <a:off x="548640" y="2148840"/>
            <a:ext cx="246888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Ready notification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Checking the queue without walking over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Staff order board, no calling out numbers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3" name="Google Shape;243;p22"/>
          <p:cNvCxnSpPr/>
          <p:nvPr/>
        </p:nvCxnSpPr>
        <p:spPr>
          <a:xfrm>
            <a:off x="3337560" y="1600200"/>
            <a:ext cx="2468880" cy="0"/>
          </a:xfrm>
          <a:prstGeom prst="straightConnector1">
            <a:avLst/>
          </a:prstGeom>
          <a:noFill/>
          <a:ln cap="flat" cmpd="sng" w="9525">
            <a:solidFill>
              <a:srgbClr val="D6D3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4" name="Google Shape;244;p22"/>
          <p:cNvSpPr txBox="1"/>
          <p:nvPr/>
        </p:nvSpPr>
        <p:spPr>
          <a:xfrm>
            <a:off x="3337560" y="1719072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They asked for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2"/>
          <p:cNvSpPr txBox="1"/>
          <p:nvPr/>
        </p:nvSpPr>
        <p:spPr>
          <a:xfrm>
            <a:off x="3337560" y="2148840"/>
            <a:ext cx="246888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Wait estimates without logging 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Alerts when the browser is closed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Sound alerts for staff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6" name="Google Shape;246;p22"/>
          <p:cNvCxnSpPr/>
          <p:nvPr/>
        </p:nvCxnSpPr>
        <p:spPr>
          <a:xfrm>
            <a:off x="6126480" y="1600200"/>
            <a:ext cx="2468880" cy="0"/>
          </a:xfrm>
          <a:prstGeom prst="straightConnector1">
            <a:avLst/>
          </a:prstGeom>
          <a:noFill/>
          <a:ln cap="flat" cmpd="sng" w="9525">
            <a:solidFill>
              <a:srgbClr val="D6D3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7" name="Google Shape;247;p22"/>
          <p:cNvSpPr txBox="1"/>
          <p:nvPr/>
        </p:nvSpPr>
        <p:spPr>
          <a:xfrm>
            <a:off x="6126480" y="1719072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Limits and future work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2"/>
          <p:cNvSpPr txBox="1"/>
          <p:nvPr/>
        </p:nvSpPr>
        <p:spPr>
          <a:xfrm>
            <a:off x="6126480" y="2148840"/>
            <a:ext cx="246888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Short trial, few participants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Live updates lagged with many users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Walk-ins logged manually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Next: longer pilot, staffing recommendations, card payment, demand forecasting, multiple cafeterias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3"/>
          <p:cNvSpPr txBox="1"/>
          <p:nvPr/>
        </p:nvSpPr>
        <p:spPr>
          <a:xfrm>
            <a:off x="548640" y="1554480"/>
            <a:ext cx="8046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3"/>
          <p:cNvSpPr txBox="1"/>
          <p:nvPr/>
        </p:nvSpPr>
        <p:spPr>
          <a:xfrm>
            <a:off x="548640" y="246888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Smart Cafeteria &amp; Resource Queue Optimizer  ·  Group The OG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6" name="Google Shape;256;p23"/>
          <p:cNvCxnSpPr/>
          <p:nvPr/>
        </p:nvCxnSpPr>
        <p:spPr>
          <a:xfrm>
            <a:off x="548640" y="3931920"/>
            <a:ext cx="8046720" cy="0"/>
          </a:xfrm>
          <a:prstGeom prst="straightConnector1">
            <a:avLst/>
          </a:prstGeom>
          <a:noFill/>
          <a:ln cap="flat" cmpd="sng" w="9525">
            <a:solidFill>
              <a:srgbClr val="D6D3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7" name="Google Shape;257;p23"/>
          <p:cNvSpPr txBox="1"/>
          <p:nvPr/>
        </p:nvSpPr>
        <p:spPr>
          <a:xfrm>
            <a:off x="548640" y="406908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Smrit Chaulagain 20251105  ·  Subham Khadka 20251101  ·  Abish Aryal 20251007  ·  Arpan Somnath Adhikari 20251015  ·  Dhirendra Singh Khadka 20251025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